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3" r:id="rId3"/>
    <p:sldId id="274" r:id="rId4"/>
    <p:sldId id="272" r:id="rId5"/>
    <p:sldId id="257" r:id="rId6"/>
    <p:sldId id="279" r:id="rId7"/>
    <p:sldId id="258" r:id="rId8"/>
    <p:sldId id="259" r:id="rId9"/>
    <p:sldId id="260" r:id="rId10"/>
    <p:sldId id="275" r:id="rId11"/>
    <p:sldId id="261" r:id="rId12"/>
    <p:sldId id="262" r:id="rId13"/>
    <p:sldId id="276" r:id="rId14"/>
    <p:sldId id="263" r:id="rId15"/>
    <p:sldId id="264" r:id="rId16"/>
    <p:sldId id="277" r:id="rId17"/>
    <p:sldId id="265" r:id="rId18"/>
    <p:sldId id="266" r:id="rId19"/>
    <p:sldId id="278" r:id="rId20"/>
    <p:sldId id="267" r:id="rId21"/>
    <p:sldId id="268" r:id="rId22"/>
    <p:sldId id="269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0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09752-AF02-9430-2D94-F91A35E99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6A4E8-BBDE-AB1B-ACD9-9E9128C3F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FCB16-58E7-3614-21B2-C85AC9849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269B2-F34D-9487-31F0-3316A83A66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204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4EAD5-9076-0F2D-2F5A-665030B16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33263-5C6B-F262-0919-A5E4259AE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ACB2B-AD26-BE22-1BE3-BAAC30375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49391F-57C0-2313-F97D-7FEE6D27FE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822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2 positions UCM as a semantic reference architecture focused on preserving meaning rather than syntactic compatibility.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summarizes the reality-information distinction, role-based modeling, anti-rigidity, and semantic value objects from Component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2 distinguishes UCM responsibilities from implementing semantic model responsibilities to preserve stability and prevent implementation detail from expanding the ontology.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UCM Architectural Specification v3.0, Component 4, Sections 16–19.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UCM Architectural Specification v3.0, Component 4, Sections 20–23.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5 sources:
- Purpose of Participation Model and distinction from identity: lines 19-27.
- Foundational question and elements: lines 47-60.
- Role examples and anti-rigidity: lines 68-81.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 5 sources:
- Membership and criteria: lines 98-126.
- Participation lifecycle: lines 130-142.
- Separation of identity and participation: lines 146-154.
- Core vs Participation relationship: lines 173-186.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Domain Models specialize and compose Core and Participation concepts: lines 21-25.
- UCM is designed so no particular domain is the center: line 36.
- Illustrative domains and future extension: lines 83-100.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Role Realization Pattern: lines 145-174.
- Participation Pattern: lines 178-203.
- Membership and Eligibility Patterns: lines 207-264.
- Reality-Information, Statement, Semantic Value Object, and Semantic Anchor patterns: lines 295-386.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Domain Model admission criteria: lines 448-476.
- Cross-domain interoperability: lines 657-671.
- Extensibility and independent evolution: lines 696-715.
- Governance of domain extensions: lines 719-733.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MP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355080"/>
            <a:ext cx="1124712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6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UCM Architecture v3.0  |  Component 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69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71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3657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 Display" pitchFamily="34" charset="0"/>
              </a:rPr>
              <a:t>The UCM Design Document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" y="1296055"/>
            <a:ext cx="8961120" cy="779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16070"/>
                </a:solidFill>
                <a:latin typeface="Aptos" pitchFamily="34" charset="0"/>
              </a:rPr>
              <a:t>My understanding is presently the UCM Design Document is one of two content artifacts for the Community Working Group. The other is the UCM Model. </a:t>
            </a:r>
          </a:p>
          <a:p>
            <a:pPr marL="0" indent="0">
              <a:buNone/>
            </a:pPr>
            <a:endParaRPr lang="en-US" sz="2000" dirty="0">
              <a:solidFill>
                <a:srgbClr val="516070"/>
              </a:solidFill>
              <a:latin typeface="Aptos" pitchFamily="34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13232" y="2411407"/>
            <a:ext cx="9966960" cy="387966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r>
              <a:rPr lang="en-US" sz="2000" dirty="0">
                <a:solidFill>
                  <a:srgbClr val="516070"/>
                </a:solidFill>
                <a:latin typeface="Aptos" pitchFamily="34" charset="0"/>
              </a:rPr>
              <a:t>It is the governance document of how our community group adds new content to the UCM model. </a:t>
            </a:r>
          </a:p>
          <a:p>
            <a:endParaRPr lang="en-US" sz="2000" dirty="0">
              <a:solidFill>
                <a:srgbClr val="516070"/>
              </a:solidFill>
              <a:latin typeface="Aptos" pitchFamily="34" charset="0"/>
            </a:endParaRPr>
          </a:p>
          <a:p>
            <a:r>
              <a:rPr lang="en-US" sz="2000" dirty="0">
                <a:solidFill>
                  <a:srgbClr val="516070"/>
                </a:solidFill>
                <a:latin typeface="Aptos" pitchFamily="34" charset="0"/>
              </a:rPr>
              <a:t>The audience for the document ranges from Business Analysts who understand the business problem and provide real-world business problems in care domains to technical practitioners who will leverage the UCM to implement solutions, Objectives  of this document are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16070"/>
                </a:solidFill>
                <a:latin typeface="Aptos" pitchFamily="34" charset="0"/>
              </a:rPr>
              <a:t> it can be read by all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16070"/>
                </a:solidFill>
                <a:latin typeface="Aptos" pitchFamily="34" charset="0"/>
              </a:rPr>
              <a:t>That it is not a tutorial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16070"/>
                </a:solidFill>
                <a:latin typeface="Aptos" pitchFamily="34" charset="0"/>
              </a:rPr>
              <a:t>As a design document independent of any implementation.</a:t>
            </a:r>
          </a:p>
          <a:p>
            <a:r>
              <a:rPr lang="en-US" sz="2000" dirty="0">
                <a:solidFill>
                  <a:srgbClr val="516070"/>
                </a:solidFill>
                <a:latin typeface="Aptos" pitchFamily="34" charset="0"/>
              </a:rPr>
              <a:t>
It not a Roadmap. What might get added or refactored in the UCM is driven by UCM projects. Project will add content that conforms to this document.</a:t>
            </a:r>
          </a:p>
          <a:p>
            <a:endParaRPr lang="en-US" sz="2000" dirty="0">
              <a:solidFill>
                <a:srgbClr val="516070"/>
              </a:solidFill>
              <a:latin typeface="Aptos" pitchFamily="34" charset="0"/>
            </a:endParaRPr>
          </a:p>
          <a:p>
            <a:r>
              <a:rPr lang="en-US" sz="2000" dirty="0">
                <a:solidFill>
                  <a:srgbClr val="516070"/>
                </a:solidFill>
                <a:latin typeface="Aptos" pitchFamily="34" charset="0"/>
              </a:rPr>
              <a:t>Short term Objective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16070"/>
                </a:solidFill>
                <a:latin typeface="Aptos" pitchFamily="34" charset="0"/>
              </a:rPr>
              <a:t>Acceptance of a “baseline UCM document” by the Community Group. </a:t>
            </a:r>
            <a:r>
              <a:rPr lang="en-US" sz="2000" dirty="0"/>
              <a:t>O</a:t>
            </a:r>
          </a:p>
        </p:txBody>
      </p:sp>
      <p:sp>
        <p:nvSpPr>
          <p:cNvPr id="7" name="Shape 5"/>
          <p:cNvSpPr/>
          <p:nvPr/>
        </p:nvSpPr>
        <p:spPr>
          <a:xfrm>
            <a:off x="685800" y="6291072"/>
            <a:ext cx="10835640" cy="0"/>
          </a:xfrm>
          <a:prstGeom prst="line">
            <a:avLst/>
          </a:prstGeom>
          <a:noFill/>
          <a:ln w="12700">
            <a:solidFill>
              <a:srgbClr val="D6E1EA"/>
            </a:solidFill>
            <a:prstDash val="solid"/>
          </a:ln>
        </p:spPr>
        <p:txBody>
          <a:bodyPr/>
          <a:lstStyle/>
          <a:p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0BEB-F9DE-1E8A-BC73-C46254CF5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360DBC5C-02CF-E0E0-3C17-15FBC0647EF9}"/>
              </a:ext>
            </a:extLst>
          </p:cNvPr>
          <p:cNvSpPr/>
          <p:nvPr/>
        </p:nvSpPr>
        <p:spPr>
          <a:xfrm>
            <a:off x="685800" y="9601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24D"/>
                </a:solidFill>
                <a:latin typeface="Aptos Display" pitchFamily="34" charset="0"/>
              </a:rPr>
              <a:t>Proposed Structure of UCM Design Document</a:t>
            </a:r>
            <a:endParaRPr lang="en-US" sz="3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D8AA15-4BD5-83D6-4817-FEE703D6E8BA}"/>
              </a:ext>
            </a:extLst>
          </p:cNvPr>
          <p:cNvSpPr/>
          <p:nvPr/>
        </p:nvSpPr>
        <p:spPr>
          <a:xfrm>
            <a:off x="1341193" y="2247446"/>
            <a:ext cx="8961120" cy="2335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1: Mission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516070"/>
                </a:solidFill>
                <a:latin typeface="Aptos" pitchFamily="34" charset="0"/>
              </a:rPr>
              <a:t>Section 2: Design Principles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516070"/>
                </a:solidFill>
                <a:latin typeface="Aptos" pitchFamily="34" charset="0"/>
              </a:rPr>
              <a:t>Section 3: Compositional Approach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516070"/>
                </a:solidFill>
                <a:latin typeface="Aptos" pitchFamily="34" charset="0"/>
              </a:rPr>
              <a:t>Section 4: Core Model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516070"/>
                </a:solidFill>
                <a:latin typeface="Aptos" pitchFamily="34" charset="0"/>
              </a:rPr>
              <a:t>Section 5: Participation Model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516070"/>
                </a:solidFill>
                <a:latin typeface="Aptos" pitchFamily="34" charset="0"/>
              </a:rPr>
              <a:t>Section 6: Domain Models</a:t>
            </a:r>
            <a:endParaRPr lang="en-US" sz="2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118EF06-CD95-5977-FBC9-22AFD0C20F1D}"/>
              </a:ext>
            </a:extLst>
          </p:cNvPr>
          <p:cNvSpPr/>
          <p:nvPr/>
        </p:nvSpPr>
        <p:spPr>
          <a:xfrm>
            <a:off x="685800" y="6291072"/>
            <a:ext cx="10835640" cy="0"/>
          </a:xfrm>
          <a:prstGeom prst="line">
            <a:avLst/>
          </a:prstGeom>
          <a:noFill/>
          <a:ln w="12700">
            <a:solidFill>
              <a:srgbClr val="D6E1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237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46C520-1227-BCD4-3878-BB2907AF121E}"/>
              </a:ext>
            </a:extLst>
          </p:cNvPr>
          <p:cNvSpPr txBox="1"/>
          <p:nvPr/>
        </p:nvSpPr>
        <p:spPr>
          <a:xfrm>
            <a:off x="4197427" y="2831335"/>
            <a:ext cx="30043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Section 1: Mission</a:t>
            </a:r>
          </a:p>
        </p:txBody>
      </p:sp>
    </p:spTree>
    <p:extLst>
      <p:ext uri="{BB962C8B-B14F-4D97-AF65-F5344CB8AC3E}">
        <p14:creationId xmlns:p14="http://schemas.microsoft.com/office/powerpoint/2010/main" val="3765782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BB36B-1B4A-41D5-BE33-9D34B7FF9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36BFC5B-76EE-965C-AF38-F500DDB43B98}"/>
              </a:ext>
            </a:extLst>
          </p:cNvPr>
          <p:cNvSpPr/>
          <p:nvPr/>
        </p:nvSpPr>
        <p:spPr>
          <a:xfrm>
            <a:off x="685800" y="9601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common language for meaning</a:t>
            </a:r>
            <a:endParaRPr lang="en-US" sz="3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103C0A4-5B87-7B52-2212-D9C7FDA0181C}"/>
              </a:ext>
            </a:extLst>
          </p:cNvPr>
          <p:cNvSpPr/>
          <p:nvPr/>
        </p:nvSpPr>
        <p:spPr>
          <a:xfrm>
            <a:off x="713232" y="1856232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1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Unified Care Model provides an implementation-independent semantic foundation for human-centered information.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02019CD-041F-2459-6311-8A82862E7673}"/>
              </a:ext>
            </a:extLst>
          </p:cNvPr>
          <p:cNvSpPr/>
          <p:nvPr/>
        </p:nvSpPr>
        <p:spPr>
          <a:xfrm>
            <a:off x="987552" y="2880360"/>
            <a:ext cx="96926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r>
              <a:rPr lang="en-US" sz="19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reusable concepts and relationships
</a:t>
            </a:r>
            <a:endParaRPr lang="en-US" sz="1900" dirty="0"/>
          </a:p>
          <a:p>
            <a:r>
              <a:rPr lang="en-US" sz="19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Separates meaning from implementation details
</a:t>
            </a:r>
            <a:endParaRPr lang="en-US" sz="1900" dirty="0"/>
          </a:p>
          <a:p>
            <a:r>
              <a:rPr lang="en-US" sz="19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consistent interpretation across different care domains and standards</a:t>
            </a:r>
            <a:endParaRPr lang="en-US" sz="1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FA808E-9C60-F179-56B8-4F5E265A67B4}"/>
              </a:ext>
            </a:extLst>
          </p:cNvPr>
          <p:cNvSpPr/>
          <p:nvPr/>
        </p:nvSpPr>
        <p:spPr>
          <a:xfrm>
            <a:off x="713232" y="470916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Value: organizations can exchange care information without losing what it means and provides confidence in the quality of the exchange.</a:t>
            </a:r>
            <a:endParaRPr lang="en-US" sz="2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697AA7D-9826-6C5A-A396-071AC0E6E18D}"/>
              </a:ext>
            </a:extLst>
          </p:cNvPr>
          <p:cNvSpPr/>
          <p:nvPr/>
        </p:nvSpPr>
        <p:spPr>
          <a:xfrm>
            <a:off x="685800" y="6291072"/>
            <a:ext cx="10835640" cy="0"/>
          </a:xfrm>
          <a:prstGeom prst="line">
            <a:avLst/>
          </a:prstGeom>
          <a:noFill/>
          <a:ln w="12700">
            <a:solidFill>
              <a:srgbClr val="D6E1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944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96012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is — and what it is not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UCM 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423160"/>
            <a:ext cx="493776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r>
              <a:rPr lang="en-US" sz="17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semantic reference architecture
</a:t>
            </a:r>
            <a:endParaRPr lang="en-US" sz="1750" dirty="0"/>
          </a:p>
          <a:p>
            <a:r>
              <a:rPr lang="en-US" sz="17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reusable ontology for human-centered care information
</a:t>
            </a:r>
            <a:endParaRPr lang="en-US" sz="1750" dirty="0"/>
          </a:p>
          <a:p>
            <a:r>
              <a:rPr lang="en-US" sz="17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foundation for interoperable semantic models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263640" y="1828800"/>
            <a:ext cx="18288" cy="3246120"/>
          </a:xfrm>
          <a:prstGeom prst="rect">
            <a:avLst/>
          </a:prstGeom>
          <a:solidFill>
            <a:srgbClr val="D6E1EA"/>
          </a:solidFill>
          <a:ln w="12700">
            <a:solidFill>
              <a:srgbClr val="D6E1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2084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UCM is not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949440" y="2423160"/>
            <a:ext cx="45720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r>
              <a:rPr lang="en-US" sz="17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exchange standard or profile
</a:t>
            </a:r>
            <a:endParaRPr lang="en-US" sz="1750" dirty="0"/>
          </a:p>
          <a:p>
            <a:r>
              <a:rPr lang="en-US" sz="17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database schema or API
</a:t>
            </a:r>
            <a:endParaRPr lang="en-US" sz="1750" dirty="0"/>
          </a:p>
          <a:p>
            <a:r>
              <a:rPr lang="en-US" sz="17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terminology or value set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60120" y="480060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complements existing standards by providing  </a:t>
            </a:r>
            <a:r>
              <a:rPr lang="en-US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computable layer  of me</a:t>
            </a:r>
            <a:r>
              <a:rPr lang="en-US" sz="1800" b="1" dirty="0">
                <a:solidFill>
                  <a:srgbClr val="1F77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6291072"/>
            <a:ext cx="10835640" cy="0"/>
          </a:xfrm>
          <a:prstGeom prst="line">
            <a:avLst/>
          </a:prstGeom>
          <a:noFill/>
          <a:ln w="12700">
            <a:solidFill>
              <a:srgbClr val="D6E1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77792-D21E-A853-0053-11C20E91F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1E2997-25AA-5F50-55F4-5577A17E1233}"/>
              </a:ext>
            </a:extLst>
          </p:cNvPr>
          <p:cNvSpPr txBox="1"/>
          <p:nvPr/>
        </p:nvSpPr>
        <p:spPr>
          <a:xfrm>
            <a:off x="4197427" y="2831335"/>
            <a:ext cx="4485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Section 2: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3762271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value: shared meaning across systems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9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Interoperability requires preserving meaning 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868680" y="2735362"/>
            <a:ext cx="106070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UCM provides an implementation-independent semantic model / foundation.</a:t>
            </a:r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supports consistent understanding across care domains, standards, and systems.</a:t>
            </a:r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complements existing standards rather than replacing them.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A869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design separates things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78992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person, organization, process, role, statement, and record are different kinds of things. These things are distinct from information about these things.</a:t>
            </a:r>
          </a:p>
          <a:p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such as patient, member, provider, guarantor, and subscriber are contextual, not permanent identity types.</a:t>
            </a:r>
          </a:p>
          <a:p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value objects such as names, addresses, identifiers, quantities, and time intervals are modeled independently of implementation datatypes.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A869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5760" y="6812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Model / Implementation boundary keeps the model stable and useful across domains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UCM defines reusable meaning.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937760" cy="3154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anchors</a:t>
            </a:r>
          </a:p>
          <a:p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Entity, role, process, participation, and information-object distinctions</a:t>
            </a:r>
          </a:p>
          <a:p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Statement patterns and semantic value objects</a:t>
            </a:r>
          </a:p>
          <a:p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Cross-domain relationship patterns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309360" y="1600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Implementing models operationalize it.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309360" y="2148840"/>
            <a:ext cx="5120640" cy="3154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Data-element-level definitions</a:t>
            </a:r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FHIR, v2, CDA, X12 and other mappings</a:t>
            </a:r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Terminology bindings and value sets</a:t>
            </a:r>
            <a:endParaRPr lang="en-US" sz="2100" dirty="0"/>
          </a:p>
          <a:p>
            <a:r>
              <a:rPr lang="en-US" sz="2100" dirty="0">
                <a:solidFill>
                  <a:srgbClr val="1B2B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Cardinality, validation, and transformation rules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096000" y="1828800"/>
            <a:ext cx="0" cy="4343400"/>
          </a:xfrm>
          <a:prstGeom prst="line">
            <a:avLst/>
          </a:prstGeom>
          <a:noFill/>
          <a:ln w="1905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60120" y="59893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5E9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Result: reusable architecture without ontology explosion.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800" kern="1200">
                <a:solidFill>
                  <a:srgbClr val="7A869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smtClean="0"/>
              <a:pPr algn="l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165B-3B59-2702-78F3-3E0681A88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8EE3A7-A21B-8045-94BA-912BF1E27BB3}"/>
              </a:ext>
            </a:extLst>
          </p:cNvPr>
          <p:cNvSpPr txBox="1"/>
          <p:nvPr/>
        </p:nvSpPr>
        <p:spPr>
          <a:xfrm>
            <a:off x="4197427" y="2831335"/>
            <a:ext cx="56796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Section 3: Compositional Approach</a:t>
            </a:r>
          </a:p>
        </p:txBody>
      </p:sp>
    </p:spTree>
    <p:extLst>
      <p:ext uri="{BB962C8B-B14F-4D97-AF65-F5344CB8AC3E}">
        <p14:creationId xmlns:p14="http://schemas.microsoft.com/office/powerpoint/2010/main" val="2462230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UCM Semantic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0972800" cy="0"/>
          </a:xfrm>
          <a:prstGeom prst="line">
            <a:avLst/>
          </a:prstGeom>
          <a:noFill/>
          <a:ln w="1524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455A64"/>
                </a:solidFill>
              </a:rPr>
              <a:t>The UCM is organized as a compositional semantic architecture.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65D"/>
                </a:solidFill>
              </a:rPr>
              <a:t>Three complementary models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F6FAE"/>
                </a:solidFill>
              </a:rPr>
              <a:t>•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" y="2779776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455A64"/>
                </a:solidFill>
              </a:rPr>
              <a:t>Core Model: stable semantic concepts and reusable anchors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85800" y="34107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F6FAE"/>
                </a:solidFill>
              </a:rPr>
              <a:t>•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05840" y="3401568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455A64"/>
                </a:solidFill>
              </a:rPr>
              <a:t>Participation Model: roles, context, membership, and involvement over time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85800" y="403250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F6FAE"/>
                </a:solidFill>
              </a:rPr>
              <a:t>•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05840" y="4023360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455A64"/>
                </a:solidFill>
              </a:rPr>
              <a:t>Domain Models: specialized views composed from Core and Participation concepts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94360" y="5321808"/>
            <a:ext cx="10972800" cy="658368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05840" y="5010911"/>
            <a:ext cx="1037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365D"/>
                </a:solidFill>
              </a:rPr>
              <a:t>Business value: domains can extend the model without redefining shared meaning.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SULO Alignment  and Why it Matters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0972800" cy="0"/>
          </a:xfrm>
          <a:prstGeom prst="line">
            <a:avLst/>
          </a:prstGeom>
          <a:noFill/>
          <a:ln w="1524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455A64"/>
                </a:solidFill>
              </a:rPr>
              <a:t>SULO gives the UCM a stable ontological foundation without making the UCM duplicate SULO.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65D"/>
                </a:solidFill>
              </a:rPr>
              <a:t>What this enables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916936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A clear distinction between reality and information about reality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456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3447288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Role and participation semantics that do not redefine the underlying person or organization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39867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3977640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Semantic value objects and anchors that can be reused across standards and technologies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" y="45171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4507992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Independent evolution of UCM concepts and implementation-specific models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4360" y="5321808"/>
            <a:ext cx="10972800" cy="658368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68680" y="5458968"/>
            <a:ext cx="1037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365D"/>
                </a:solidFill>
              </a:rPr>
              <a:t>Business value: shared meaning can stay stable while systems, standards, and domains evolve.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F244A-BF67-5D8B-738F-7ED99F865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CC916A-D9EC-5696-8880-E21A1F10640B}"/>
              </a:ext>
            </a:extLst>
          </p:cNvPr>
          <p:cNvSpPr txBox="1"/>
          <p:nvPr/>
        </p:nvSpPr>
        <p:spPr>
          <a:xfrm>
            <a:off x="4197427" y="2831335"/>
            <a:ext cx="3597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Section 4: Core Model</a:t>
            </a:r>
          </a:p>
        </p:txBody>
      </p:sp>
    </p:spTree>
    <p:extLst>
      <p:ext uri="{BB962C8B-B14F-4D97-AF65-F5344CB8AC3E}">
        <p14:creationId xmlns:p14="http://schemas.microsoft.com/office/powerpoint/2010/main" val="1508626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Core Model: Stable Meaning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0972800" cy="0"/>
          </a:xfrm>
          <a:prstGeom prst="line">
            <a:avLst/>
          </a:prstGeom>
          <a:noFill/>
          <a:ln w="1524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455A64"/>
                </a:solidFill>
              </a:rPr>
              <a:t>The Core Model defines enduring concepts that remain meaningful across domains, workflows, and technologies.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450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65D"/>
                </a:solidFill>
              </a:rPr>
              <a:t>Core semantic categories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285292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843784"/>
            <a:ext cx="10469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Entities: Person, Organization, Device, Location, Specimen, and Social Group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3374136"/>
            <a:ext cx="10469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Processes and activities that occur over time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391363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3904488"/>
            <a:ext cx="10469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Information artifacts and statements that describe or assert information about reality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" y="444398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4434840"/>
            <a:ext cx="10469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Semantic value objects such as Name, Address, Identifier, Quantity, and Time Interval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4360" y="5321808"/>
            <a:ext cx="10972800" cy="658368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68680" y="5458968"/>
            <a:ext cx="1037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365D"/>
                </a:solidFill>
              </a:rPr>
              <a:t>Business value: shared concepts can be reused instead of redefined by every domain or system.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74980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 Stays Stable as Context Changes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0972800" cy="0"/>
          </a:xfrm>
          <a:prstGeom prst="line">
            <a:avLst/>
          </a:prstGeom>
          <a:noFill/>
          <a:ln w="15240">
            <a:solidFill>
              <a:srgbClr val="E8EE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455A64"/>
                </a:solidFill>
              </a:rPr>
              <a:t>The Core Model answers “What exists?” The Participation Model answers “How does it participate?”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65D"/>
                </a:solidFill>
              </a:rPr>
              <a:t>Design principles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287121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862072"/>
            <a:ext cx="10469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A person remains the same person while serving as a patient, member, resident, or beneficiary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4015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3392424"/>
            <a:ext cx="10469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Semantic anchors preserve meaning across FHIR, HL7 v2, C-CDA, X12, and other representations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39319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3922776"/>
            <a:ext cx="10469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Composition is preferred over deep inheritance and domain-specific duplication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" y="446227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F6FAE"/>
                </a:solidFill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4453128"/>
            <a:ext cx="10469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455A64"/>
                </a:solidFill>
              </a:rPr>
              <a:t>The Core Model excludes exchange structures, terminology bindings, and implementation constraints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4360" y="5321808"/>
            <a:ext cx="10972800" cy="658368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68680" y="5458968"/>
            <a:ext cx="1037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7365D"/>
                </a:solidFill>
              </a:rPr>
              <a:t>Business value: systems can change, roles can change, and domains can evolve without losing identity or meaning.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6EF2F-E264-8C36-B926-7F89315C1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9FDBB2-351C-CBEE-343A-9136731E1FDF}"/>
              </a:ext>
            </a:extLst>
          </p:cNvPr>
          <p:cNvSpPr txBox="1"/>
          <p:nvPr/>
        </p:nvSpPr>
        <p:spPr>
          <a:xfrm>
            <a:off x="4197427" y="2831335"/>
            <a:ext cx="4811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Section 5: Participation Model</a:t>
            </a:r>
          </a:p>
        </p:txBody>
      </p:sp>
    </p:spTree>
    <p:extLst>
      <p:ext uri="{BB962C8B-B14F-4D97-AF65-F5344CB8AC3E}">
        <p14:creationId xmlns:p14="http://schemas.microsoft.com/office/powerpoint/2010/main" val="3018615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Participation Model explains context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108813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Model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258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exists?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968496" y="2029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6F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846320" y="1874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Participation Model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2258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it participate?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915400" y="2029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6F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73836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Meaning in context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46920" y="22585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Roles, relationships, time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68680" y="2971800"/>
            <a:ext cx="104241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60120" y="341071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16152" y="3401568"/>
            <a:ext cx="1007668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person, organization, or group keeps its identity while its roles change over time.</a:t>
            </a:r>
            <a:endParaRPr lang="en-US" sz="1620" dirty="0"/>
          </a:p>
        </p:txBody>
      </p:sp>
      <p:sp>
        <p:nvSpPr>
          <p:cNvPr id="16" name="Text 14"/>
          <p:cNvSpPr/>
          <p:nvPr/>
        </p:nvSpPr>
        <p:spPr>
          <a:xfrm>
            <a:off x="960120" y="399592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16152" y="3986784"/>
            <a:ext cx="100766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Participation links an entity to a role, context, and time interval.</a:t>
            </a:r>
            <a:endParaRPr lang="en-US" sz="1620" dirty="0"/>
          </a:p>
        </p:txBody>
      </p:sp>
      <p:sp>
        <p:nvSpPr>
          <p:cNvPr id="18" name="Text 16"/>
          <p:cNvSpPr/>
          <p:nvPr/>
        </p:nvSpPr>
        <p:spPr>
          <a:xfrm>
            <a:off x="960120" y="45445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16152" y="4535424"/>
            <a:ext cx="1007668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Patient, client, member, provider, caregiver, subscriber, and employee are roles — not permanent kinds of person.</a:t>
            </a:r>
            <a:endParaRPr lang="en-US" sz="1620" dirty="0"/>
          </a:p>
        </p:txBody>
      </p:sp>
      <p:sp>
        <p:nvSpPr>
          <p:cNvPr id="22" name="Text 19"/>
          <p:cNvSpPr/>
          <p:nvPr/>
        </p:nvSpPr>
        <p:spPr>
          <a:xfrm>
            <a:off x="11155680" y="63825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brings value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108813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UCM avoids redefining people for every domain.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60120" y="252374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16152" y="2514600"/>
            <a:ext cx="1016812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person can be understood as patient, household member, beneficiary, caregiver, employee, or community participant — without duplicating identity.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960120" y="325526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6152" y="3246120"/>
            <a:ext cx="101681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Membership, eligibility, and governance become reusable patterns across programs and domains.</a:t>
            </a:r>
            <a:endParaRPr lang="en-US" sz="1620" dirty="0"/>
          </a:p>
        </p:txBody>
      </p:sp>
      <p:sp>
        <p:nvSpPr>
          <p:cNvPr id="10" name="Text 8"/>
          <p:cNvSpPr/>
          <p:nvPr/>
        </p:nvSpPr>
        <p:spPr>
          <a:xfrm>
            <a:off x="960120" y="389534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16152" y="3886200"/>
            <a:ext cx="1016812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participation supports a longitudinal view: roles can activate, suspend, terminate, and remain historically traceable.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960120" y="464515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8F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16152" y="4636008"/>
            <a:ext cx="1016812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is cleaner cross-domain integration: fewer special cases, fewer duplicate models, and more consistent meaning.</a:t>
            </a:r>
            <a:endParaRPr lang="en-US" sz="1620" dirty="0"/>
          </a:p>
        </p:txBody>
      </p:sp>
      <p:sp>
        <p:nvSpPr>
          <p:cNvPr id="16" name="Text 13"/>
          <p:cNvSpPr/>
          <p:nvPr/>
        </p:nvSpPr>
        <p:spPr>
          <a:xfrm>
            <a:off x="11155680" y="63825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6ABD1-66E9-9CD5-D003-C86EAE733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C2085D-E338-331F-6AB4-0E58925E1522}"/>
              </a:ext>
            </a:extLst>
          </p:cNvPr>
          <p:cNvSpPr txBox="1"/>
          <p:nvPr/>
        </p:nvSpPr>
        <p:spPr>
          <a:xfrm>
            <a:off x="4197427" y="2831335"/>
            <a:ext cx="4411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Section 5: Domain Models </a:t>
            </a:r>
          </a:p>
        </p:txBody>
      </p:sp>
    </p:spTree>
    <p:extLst>
      <p:ext uri="{BB962C8B-B14F-4D97-AF65-F5344CB8AC3E}">
        <p14:creationId xmlns:p14="http://schemas.microsoft.com/office/powerpoint/2010/main" val="4100345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Models extend the UCM — they do not modify it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108813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Models let experts add domain-specific meaning while preserving the shared semantic foundation.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2F6F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Model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exists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611880" y="27249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F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89120" y="25603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2F6F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Participation Model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89120" y="2971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participates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01000" y="272491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F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=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778240" y="25603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50" b="1" dirty="0">
                <a:solidFill>
                  <a:srgbClr val="0E8F8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Model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778240" y="2971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 in a field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8680" y="3584448"/>
            <a:ext cx="104241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60120" y="39867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16152" y="3977640"/>
            <a:ext cx="1016812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domain may introduce concepts needed for that subject area, but it must preserve UCM meaning.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960120" y="460857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16152" y="4599432"/>
            <a:ext cx="1016812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architecture supports clinical care, social services, education, housing, justice, research, and future domains.</a:t>
            </a:r>
            <a:endParaRPr lang="en-US" sz="1620" dirty="0"/>
          </a:p>
        </p:txBody>
      </p:sp>
      <p:sp>
        <p:nvSpPr>
          <p:cNvPr id="19" name="Text 17"/>
          <p:cNvSpPr/>
          <p:nvPr/>
        </p:nvSpPr>
        <p:spPr>
          <a:xfrm>
            <a:off x="960120" y="536752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8F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16152" y="5358384"/>
            <a:ext cx="1016812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value: domains can evolve independently without fragmenting shared meaning.</a:t>
            </a:r>
            <a:endParaRPr lang="en-US" sz="1620" dirty="0"/>
          </a:p>
        </p:txBody>
      </p:sp>
      <p:sp>
        <p:nvSpPr>
          <p:cNvPr id="23" name="Text 20"/>
          <p:cNvSpPr/>
          <p:nvPr/>
        </p:nvSpPr>
        <p:spPr>
          <a:xfrm>
            <a:off x="11155680" y="63825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patterns make domain modeling repeatable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108813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 6 defines reusable patterns so each domain does not reinvent its own semantics.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14400" y="258775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2578608"/>
            <a:ext cx="102595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+ Participation: a stable entity bears a role in a context over time.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914400" y="31729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3163824"/>
            <a:ext cx="102595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Membership + Eligibility: belonging to a group is distinct from qualifying for it.</a:t>
            </a:r>
            <a:endParaRPr lang="en-US" sz="1620" dirty="0"/>
          </a:p>
        </p:txBody>
      </p:sp>
      <p:sp>
        <p:nvSpPr>
          <p:cNvPr id="10" name="Text 8"/>
          <p:cNvSpPr/>
          <p:nvPr/>
        </p:nvSpPr>
        <p:spPr>
          <a:xfrm>
            <a:off x="914400" y="375818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0432" y="3749040"/>
            <a:ext cx="102595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Reality + Information: a record, assessment, statement, or note is not the thing it describes.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914400" y="434340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4334256"/>
            <a:ext cx="1025956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Statements + Semantic Value Objects + Semantic Anchors: domains can express meaning consistently without encoding implementation details.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749808" y="5440680"/>
            <a:ext cx="10744200" cy="50292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32688" y="5568696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value: fewer one-off mappings, clearer governance, and more reusable semantic work across programs.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11155680" y="63825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74980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controlled path for extensibility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1088136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9808" y="1737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UCM is designed for extension by domain experts — without becoming a collection of implementation details.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14400" y="255117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2542032"/>
            <a:ext cx="102595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Admit a domain concept when it expresses real domain meaning that existing UCM concepts cannot capture without semantic loss.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914400" y="325526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3246120"/>
            <a:ext cx="1025956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a concept to the foundational UCM only when it is reusable across multiple independent domains.</a:t>
            </a:r>
            <a:endParaRPr lang="en-US" sz="1620" dirty="0"/>
          </a:p>
        </p:txBody>
      </p:sp>
      <p:sp>
        <p:nvSpPr>
          <p:cNvPr id="10" name="Text 8"/>
          <p:cNvSpPr/>
          <p:nvPr/>
        </p:nvSpPr>
        <p:spPr>
          <a:xfrm>
            <a:off x="914400" y="386791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6F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0432" y="3858768"/>
            <a:ext cx="102595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exchange syntax, profiles, cardinality, database design, value sets, and transformation rules outside the UCM.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914400" y="459943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E8F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70432" y="4590288"/>
            <a:ext cx="1025956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2430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experts define domain meaning; the UCM provides the framework for integrating those meanings consistently.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804672" y="5513832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Outcome: stable foundation + independent domain evolution + cross-domain interoperability.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1155680" y="63825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D6A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1211</TotalTime>
  <Words>1734</Words>
  <Application>Microsoft Office PowerPoint</Application>
  <PresentationFormat>Widescreen</PresentationFormat>
  <Paragraphs>211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UCM Component 1 Simple Slides</dc:title>
  <dc:subject>UCM W3C Component 1</dc:subject>
  <dc:creator>OpenAI</dc:creator>
  <cp:lastModifiedBy>Ken Lord</cp:lastModifiedBy>
  <cp:revision>6</cp:revision>
  <dcterms:created xsi:type="dcterms:W3CDTF">2026-08-05T17:27:51Z</dcterms:created>
  <dcterms:modified xsi:type="dcterms:W3CDTF">2026-08-13T18:58:39Z</dcterms:modified>
</cp:coreProperties>
</file>